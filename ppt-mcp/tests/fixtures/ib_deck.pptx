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2024A</c:v>
                </c:pt>
                <c:pt idx="1">
                  <c:v>2025E</c:v>
                </c:pt>
                <c:pt idx="2">
                  <c:v>2026E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1250</c:v>
                </c:pt>
                <c:pt idx="1">
                  <c:v>1450</c:v>
                </c:pt>
                <c:pt idx="2">
                  <c:v>1700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2024A</c:v>
                </c:pt>
                <c:pt idx="1">
                  <c:v>2025E</c:v>
                </c:pt>
                <c:pt idx="2">
                  <c:v>2026E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310</c:v>
                </c:pt>
                <c:pt idx="1">
                  <c:v>380</c:v>
                </c:pt>
                <c:pt idx="2">
                  <c:v>460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rgbClr val="002060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t>Investment Banking Pitch 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M&amp;A Advisory &amp; Valuation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t>Three-Statement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3628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8001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 ($M)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2024A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2025E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2026E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1,250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1,450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1,700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460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Net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280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t>Public Comps Valuation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3628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8001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Peer Company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EV/EBITDA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P/E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Mkt Cap ($B)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Peer Corp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14.2x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22.5x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45.2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Peer Corp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12.8x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19.8x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38.6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Mean /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13.5x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21.1x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Arial"/>
                        </a:defRPr>
                      </a:pPr>
                      <a:r>
                        <a:t>41.9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t>Revenue &amp; EBITDA Trajectory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10362895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